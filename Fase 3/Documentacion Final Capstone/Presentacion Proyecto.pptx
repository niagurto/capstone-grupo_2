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26">
          <p15:clr>
            <a:srgbClr val="9AA0A6"/>
          </p15:clr>
        </p15:guide>
        <p15:guide id="2" orient="horz" pos="7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8C0303-CA62-4CB5-ACC8-05E2A77B3ABE}">
  <a:tblStyle styleId="{218C0303-CA62-4CB5-ACC8-05E2A77B3A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26" orient="horz"/>
        <p:guide pos="7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6792cc15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6792cc15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Actualmente, PepsiCo Chile gestiona el ingreso de su flota a talleres de forma manual utilizando hojas de cálculo y WhatsApp.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Esto genera problemas de trazabilidad, duplicidad de información y errores de coordinación entre choferes, supervisores y mecánicos.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falta de medición de tiempos repercute en la disponibilidad de la flota y la logística de distribución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90ebe93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90ebe93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 Fuente y Referencias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Los datos de costos operativos de inactividad ($448-$760 USD/día) provienen de estudios anuales de gestión de flotas realizados por: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Element Fleet Management</a:t>
            </a:r>
            <a:r>
              <a:rPr lang="en">
                <a:solidFill>
                  <a:schemeClr val="dk1"/>
                </a:solidFill>
              </a:rPr>
              <a:t> (Líder mundial en administración de flotas).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Platform Science</a:t>
            </a:r>
            <a:r>
              <a:rPr lang="en">
                <a:solidFill>
                  <a:schemeClr val="dk1"/>
                </a:solidFill>
              </a:rPr>
              <a:t> (Tecnología de transporte).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>
                <a:solidFill>
                  <a:schemeClr val="dk1"/>
                </a:solidFill>
              </a:rPr>
              <a:t>Work Truck Online</a:t>
            </a:r>
            <a:r>
              <a:rPr lang="en">
                <a:solidFill>
                  <a:schemeClr val="dk1"/>
                </a:solidFill>
              </a:rPr>
              <a:t> (Publicación de la industria).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6792cc15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6792cc15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6792cc15b_1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6792cc15b_1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90ebe93d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90ebe93d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90ebe93d1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90ebe93d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6792cc15b_1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a6792cc15b_1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1" name="Google Shape;11;p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111275" y="669163"/>
            <a:ext cx="3661200" cy="28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2152350" y="2556363"/>
            <a:ext cx="483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3925875" y="1271038"/>
            <a:ext cx="1268400" cy="126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152350" y="3398163"/>
            <a:ext cx="4839300" cy="474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1371604" y="919025"/>
            <a:ext cx="4097100" cy="78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371600" y="2160525"/>
            <a:ext cx="4097100" cy="24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" name="Google Shape;25;p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6" name="Google Shape;26;p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548700" y="548700"/>
            <a:ext cx="38463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548700" y="1580175"/>
            <a:ext cx="3884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4710600" y="1580175"/>
            <a:ext cx="3884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548700" y="556225"/>
            <a:ext cx="8046600" cy="176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38" name="Google Shape;38;p6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6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6"/>
          <p:cNvSpPr txBox="1"/>
          <p:nvPr>
            <p:ph type="title"/>
          </p:nvPr>
        </p:nvSpPr>
        <p:spPr>
          <a:xfrm>
            <a:off x="3183050" y="1036600"/>
            <a:ext cx="2736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46" name="Google Shape;46;p7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7"/>
          <p:cNvSpPr/>
          <p:nvPr/>
        </p:nvSpPr>
        <p:spPr>
          <a:xfrm>
            <a:off x="548700" y="556225"/>
            <a:ext cx="8046600" cy="2357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 txBox="1"/>
          <p:nvPr>
            <p:ph type="title"/>
          </p:nvPr>
        </p:nvSpPr>
        <p:spPr>
          <a:xfrm>
            <a:off x="1371600" y="3137925"/>
            <a:ext cx="2466600" cy="65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4335075" y="3189500"/>
            <a:ext cx="3437100" cy="13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1367100" y="548700"/>
            <a:ext cx="6409800" cy="136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57" name="Google Shape;57;p8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58" name="Google Shape;58;p8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2298750" y="1319075"/>
            <a:ext cx="4546500" cy="69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298750" y="2372000"/>
            <a:ext cx="4546500" cy="13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371600" y="3910025"/>
            <a:ext cx="64008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371600" y="1952850"/>
            <a:ext cx="6400800" cy="79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371600" y="2816250"/>
            <a:ext cx="6400800" cy="374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73" name="Google Shape;73;p1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MAIN_POIN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13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81" name="Google Shape;81;p13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3"/>
          <p:cNvSpPr txBox="1"/>
          <p:nvPr>
            <p:ph type="title"/>
          </p:nvPr>
        </p:nvSpPr>
        <p:spPr>
          <a:xfrm>
            <a:off x="3442500" y="982125"/>
            <a:ext cx="4329900" cy="282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MAIN_POINT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90" name="Google Shape;90;p1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type="title"/>
          </p:nvPr>
        </p:nvSpPr>
        <p:spPr>
          <a:xfrm>
            <a:off x="890025" y="1406100"/>
            <a:ext cx="3483300" cy="2331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2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1371600" y="1095300"/>
            <a:ext cx="39174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8" name="Google Shape;98;p15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99" name="Google Shape;99;p15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1362200" y="1403125"/>
            <a:ext cx="43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1362200" y="590700"/>
            <a:ext cx="43392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2" type="subTitle"/>
          </p:nvPr>
        </p:nvSpPr>
        <p:spPr>
          <a:xfrm>
            <a:off x="1362200" y="2573575"/>
            <a:ext cx="4339200" cy="31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3" type="title"/>
          </p:nvPr>
        </p:nvSpPr>
        <p:spPr>
          <a:xfrm>
            <a:off x="1362200" y="2243823"/>
            <a:ext cx="4339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9" name="Google Shape;109;p16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10" name="Google Shape;110;p16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548700" y="548700"/>
            <a:ext cx="38463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548700" y="1976050"/>
            <a:ext cx="4256700" cy="23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578853" y="4033948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3578853" y="3057475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" type="title"/>
          </p:nvPr>
        </p:nvSpPr>
        <p:spPr>
          <a:xfrm>
            <a:off x="1367125" y="4035167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" name="Google Shape;122;p18"/>
          <p:cNvSpPr txBox="1"/>
          <p:nvPr>
            <p:ph idx="3" type="subTitle"/>
          </p:nvPr>
        </p:nvSpPr>
        <p:spPr>
          <a:xfrm>
            <a:off x="1367118" y="3057475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4" type="title"/>
          </p:nvPr>
        </p:nvSpPr>
        <p:spPr>
          <a:xfrm>
            <a:off x="5790575" y="4034616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18"/>
          <p:cNvSpPr txBox="1"/>
          <p:nvPr>
            <p:ph idx="5" type="subTitle"/>
          </p:nvPr>
        </p:nvSpPr>
        <p:spPr>
          <a:xfrm>
            <a:off x="5790582" y="3058050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6" type="title"/>
          </p:nvPr>
        </p:nvSpPr>
        <p:spPr>
          <a:xfrm>
            <a:off x="2094152" y="828300"/>
            <a:ext cx="495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6" name="Google Shape;126;p18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27" name="Google Shape;127;p18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9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35" name="Google Shape;135;p19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9"/>
          <p:cNvSpPr txBox="1"/>
          <p:nvPr>
            <p:ph type="title"/>
          </p:nvPr>
        </p:nvSpPr>
        <p:spPr>
          <a:xfrm>
            <a:off x="1371598" y="2386525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1371600" y="2724350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2" type="title"/>
          </p:nvPr>
        </p:nvSpPr>
        <p:spPr>
          <a:xfrm>
            <a:off x="3641700" y="2386521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3" name="Google Shape;143;p19"/>
          <p:cNvSpPr txBox="1"/>
          <p:nvPr>
            <p:ph idx="3" type="subTitle"/>
          </p:nvPr>
        </p:nvSpPr>
        <p:spPr>
          <a:xfrm>
            <a:off x="3641700" y="2723338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4" type="title"/>
          </p:nvPr>
        </p:nvSpPr>
        <p:spPr>
          <a:xfrm>
            <a:off x="5920776" y="2386525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" name="Google Shape;145;p19"/>
          <p:cNvSpPr txBox="1"/>
          <p:nvPr>
            <p:ph idx="5" type="subTitle"/>
          </p:nvPr>
        </p:nvSpPr>
        <p:spPr>
          <a:xfrm>
            <a:off x="5920775" y="2724329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548700" y="556225"/>
            <a:ext cx="8046600" cy="168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49" name="Google Shape;149;p20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0"/>
          <p:cNvSpPr txBox="1"/>
          <p:nvPr>
            <p:ph type="title"/>
          </p:nvPr>
        </p:nvSpPr>
        <p:spPr>
          <a:xfrm>
            <a:off x="1367603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20"/>
          <p:cNvSpPr txBox="1"/>
          <p:nvPr>
            <p:ph idx="1" type="subTitle"/>
          </p:nvPr>
        </p:nvSpPr>
        <p:spPr>
          <a:xfrm>
            <a:off x="1367600" y="12171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title"/>
          </p:nvPr>
        </p:nvSpPr>
        <p:spPr>
          <a:xfrm>
            <a:off x="3613890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613890" y="12171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4" type="title"/>
          </p:nvPr>
        </p:nvSpPr>
        <p:spPr>
          <a:xfrm>
            <a:off x="5857199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857199" y="1217051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21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63" name="Google Shape;163;p21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21"/>
          <p:cNvSpPr txBox="1"/>
          <p:nvPr>
            <p:ph type="title"/>
          </p:nvPr>
        </p:nvSpPr>
        <p:spPr>
          <a:xfrm>
            <a:off x="1371598" y="1825538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" name="Google Shape;169;p21"/>
          <p:cNvSpPr txBox="1"/>
          <p:nvPr>
            <p:ph idx="1" type="subTitle"/>
          </p:nvPr>
        </p:nvSpPr>
        <p:spPr>
          <a:xfrm>
            <a:off x="1371600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2" type="title"/>
          </p:nvPr>
        </p:nvSpPr>
        <p:spPr>
          <a:xfrm>
            <a:off x="3641700" y="1825546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641700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4" type="title"/>
          </p:nvPr>
        </p:nvSpPr>
        <p:spPr>
          <a:xfrm>
            <a:off x="5920776" y="1825538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5920775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21"/>
          <p:cNvSpPr txBox="1"/>
          <p:nvPr>
            <p:ph idx="6" type="title"/>
          </p:nvPr>
        </p:nvSpPr>
        <p:spPr>
          <a:xfrm>
            <a:off x="1371598" y="3708500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5" name="Google Shape;175;p21"/>
          <p:cNvSpPr txBox="1"/>
          <p:nvPr>
            <p:ph idx="7" type="subTitle"/>
          </p:nvPr>
        </p:nvSpPr>
        <p:spPr>
          <a:xfrm>
            <a:off x="1371600" y="3969438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8" type="title"/>
          </p:nvPr>
        </p:nvSpPr>
        <p:spPr>
          <a:xfrm>
            <a:off x="3641700" y="3708509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21"/>
          <p:cNvSpPr txBox="1"/>
          <p:nvPr>
            <p:ph idx="9" type="subTitle"/>
          </p:nvPr>
        </p:nvSpPr>
        <p:spPr>
          <a:xfrm>
            <a:off x="3641700" y="3969125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21"/>
          <p:cNvSpPr txBox="1"/>
          <p:nvPr>
            <p:ph idx="13" type="title"/>
          </p:nvPr>
        </p:nvSpPr>
        <p:spPr>
          <a:xfrm>
            <a:off x="5920776" y="3708500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9" name="Google Shape;179;p21"/>
          <p:cNvSpPr txBox="1"/>
          <p:nvPr>
            <p:ph idx="14" type="subTitle"/>
          </p:nvPr>
        </p:nvSpPr>
        <p:spPr>
          <a:xfrm>
            <a:off x="5920775" y="3969434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2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83" name="Google Shape;183;p2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22"/>
          <p:cNvSpPr txBox="1"/>
          <p:nvPr>
            <p:ph type="title"/>
          </p:nvPr>
        </p:nvSpPr>
        <p:spPr>
          <a:xfrm>
            <a:off x="3673187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9" name="Google Shape;189;p22"/>
          <p:cNvSpPr txBox="1"/>
          <p:nvPr>
            <p:ph idx="1" type="subTitle"/>
          </p:nvPr>
        </p:nvSpPr>
        <p:spPr>
          <a:xfrm>
            <a:off x="3673187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2" type="title"/>
          </p:nvPr>
        </p:nvSpPr>
        <p:spPr>
          <a:xfrm>
            <a:off x="5974781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1" name="Google Shape;191;p22"/>
          <p:cNvSpPr txBox="1"/>
          <p:nvPr>
            <p:ph idx="3" type="subTitle"/>
          </p:nvPr>
        </p:nvSpPr>
        <p:spPr>
          <a:xfrm>
            <a:off x="5974780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idx="4" type="title"/>
          </p:nvPr>
        </p:nvSpPr>
        <p:spPr>
          <a:xfrm>
            <a:off x="3673190" y="300685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3" name="Google Shape;193;p22"/>
          <p:cNvSpPr txBox="1"/>
          <p:nvPr>
            <p:ph idx="5" type="subTitle"/>
          </p:nvPr>
        </p:nvSpPr>
        <p:spPr>
          <a:xfrm>
            <a:off x="3673188" y="3389393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2"/>
          <p:cNvSpPr txBox="1"/>
          <p:nvPr>
            <p:ph idx="6" type="title"/>
          </p:nvPr>
        </p:nvSpPr>
        <p:spPr>
          <a:xfrm>
            <a:off x="5974777" y="3006861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5" name="Google Shape;195;p22"/>
          <p:cNvSpPr txBox="1"/>
          <p:nvPr>
            <p:ph idx="7" type="subTitle"/>
          </p:nvPr>
        </p:nvSpPr>
        <p:spPr>
          <a:xfrm>
            <a:off x="5974774" y="3389401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2"/>
          <p:cNvSpPr txBox="1"/>
          <p:nvPr>
            <p:ph idx="8" type="title"/>
          </p:nvPr>
        </p:nvSpPr>
        <p:spPr>
          <a:xfrm>
            <a:off x="1371626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" name="Google Shape;197;p22"/>
          <p:cNvSpPr txBox="1"/>
          <p:nvPr>
            <p:ph idx="9" type="subTitle"/>
          </p:nvPr>
        </p:nvSpPr>
        <p:spPr>
          <a:xfrm>
            <a:off x="1371626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2"/>
          <p:cNvSpPr txBox="1"/>
          <p:nvPr>
            <p:ph idx="13" type="title"/>
          </p:nvPr>
        </p:nvSpPr>
        <p:spPr>
          <a:xfrm>
            <a:off x="1371601" y="300685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9" name="Google Shape;199;p22"/>
          <p:cNvSpPr txBox="1"/>
          <p:nvPr>
            <p:ph idx="14" type="subTitle"/>
          </p:nvPr>
        </p:nvSpPr>
        <p:spPr>
          <a:xfrm>
            <a:off x="1371599" y="3389393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371600" y="540000"/>
            <a:ext cx="4296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3"/>
          <p:cNvSpPr txBox="1"/>
          <p:nvPr>
            <p:ph idx="1" type="subTitle"/>
          </p:nvPr>
        </p:nvSpPr>
        <p:spPr>
          <a:xfrm>
            <a:off x="1371600" y="1841450"/>
            <a:ext cx="27132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3"/>
          <p:cNvSpPr txBox="1"/>
          <p:nvPr/>
        </p:nvSpPr>
        <p:spPr>
          <a:xfrm>
            <a:off x="1371600" y="3611950"/>
            <a:ext cx="4063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4" name="Google Shape;204;p23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05" name="Google Shape;205;p23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12" name="Google Shape;212;p2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46">
          <p15:clr>
            <a:srgbClr val="EA4335"/>
          </p15:clr>
        </p15:guide>
        <p15:guide id="2" orient="horz" pos="346">
          <p15:clr>
            <a:srgbClr val="EA4335"/>
          </p15:clr>
        </p15:guide>
        <p15:guide id="3" pos="5414">
          <p15:clr>
            <a:srgbClr val="EA4335"/>
          </p15:clr>
        </p15:guide>
        <p15:guide id="4" orient="horz" pos="2894">
          <p15:clr>
            <a:srgbClr val="EA4335"/>
          </p15:clr>
        </p15:guide>
        <p15:guide id="5" pos="864">
          <p15:clr>
            <a:srgbClr val="9900FF"/>
          </p15:clr>
        </p15:guide>
        <p15:guide id="6" pos="4896">
          <p15:clr>
            <a:srgbClr val="9900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5" Type="http://schemas.openxmlformats.org/officeDocument/2006/relationships/slide" Target="/ppt/slides/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slide" Target="/ppt/slides/slide4.xml"/><Relationship Id="rId5" Type="http://schemas.openxmlformats.org/officeDocument/2006/relationships/slide" Target="/ppt/slides/slide4.xml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11" Type="http://schemas.openxmlformats.org/officeDocument/2006/relationships/slide" Target="/ppt/slides/slide5.xml"/><Relationship Id="rId10" Type="http://schemas.openxmlformats.org/officeDocument/2006/relationships/slide" Target="/ppt/slides/slide5.xml"/><Relationship Id="rId12" Type="http://schemas.openxmlformats.org/officeDocument/2006/relationships/slide" Target="/ppt/slides/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slide" Target="/ppt/slides/slide6.xml"/><Relationship Id="rId6" Type="http://schemas.openxmlformats.org/officeDocument/2006/relationships/slide" Target="/ppt/slides/slide6.xml"/><Relationship Id="rId7" Type="http://schemas.openxmlformats.org/officeDocument/2006/relationships/slide" Target="/ppt/slides/slide6.xml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" Target="/ppt/slides/slide7.xml"/><Relationship Id="rId6" Type="http://schemas.openxmlformats.org/officeDocument/2006/relationships/slide" Target="/ppt/slides/slide7.xml"/><Relationship Id="rId7" Type="http://schemas.openxmlformats.org/officeDocument/2006/relationships/slide" Target="/ppt/slides/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slide" Target="/ppt/slides/slide8.xml"/><Relationship Id="rId5" Type="http://schemas.openxmlformats.org/officeDocument/2006/relationships/slide" Target="/ppt/slides/slide8.xml"/><Relationship Id="rId6" Type="http://schemas.openxmlformats.org/officeDocument/2006/relationships/slide" Target="/ppt/slides/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450" y="1500112"/>
            <a:ext cx="3174075" cy="2143276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225" name="Google Shape;225;p27"/>
          <p:cNvSpPr/>
          <p:nvPr/>
        </p:nvSpPr>
        <p:spPr>
          <a:xfrm>
            <a:off x="548700" y="-4078"/>
            <a:ext cx="17604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4111275" y="3994775"/>
            <a:ext cx="3661200" cy="455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"/>
          <p:cNvSpPr txBox="1"/>
          <p:nvPr>
            <p:ph type="ctrTitle"/>
          </p:nvPr>
        </p:nvSpPr>
        <p:spPr>
          <a:xfrm>
            <a:off x="4160625" y="1500100"/>
            <a:ext cx="4434900" cy="21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Digitalización Taller Pepsico</a:t>
            </a:r>
            <a:endParaRPr/>
          </a:p>
        </p:txBody>
      </p:sp>
      <p:sp>
        <p:nvSpPr>
          <p:cNvPr id="228" name="Google Shape;228;p27"/>
          <p:cNvSpPr txBox="1"/>
          <p:nvPr>
            <p:ph idx="1" type="subTitle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Luces J. - Agurto N. - Espinoza M</a:t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12115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4160625" y="3664433"/>
            <a:ext cx="49833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3512050" y="-12650"/>
            <a:ext cx="892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34" name="Google Shape;234;p27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35" name="Google Shape;235;p27">
            <a:hlinkClick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36" name="Google Shape;236;p27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37" name="Google Shape;237;p27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38" name="Google Shape;238;p27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39" name="Google Shape;239;p27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/>
          <p:nvPr/>
        </p:nvSpPr>
        <p:spPr>
          <a:xfrm>
            <a:off x="2468313" y="1157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"/>
          <p:cNvSpPr txBox="1"/>
          <p:nvPr>
            <p:ph type="title"/>
          </p:nvPr>
        </p:nvSpPr>
        <p:spPr>
          <a:xfrm>
            <a:off x="514375" y="751682"/>
            <a:ext cx="3846300" cy="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Problemática</a:t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0" y="1369257"/>
            <a:ext cx="47106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48" name="Google Shape;248;p28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49" name="Google Shape;249;p28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50" name="Google Shape;250;p28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51" name="Google Shape;251;p28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52" name="Google Shape;252;p28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53" name="Google Shape;253;p28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254" name="Google Shape;254;p28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8391" y="2404154"/>
            <a:ext cx="1071550" cy="106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4024" y="2401285"/>
            <a:ext cx="1071550" cy="106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8" title="issue_1212444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7600" y="2401275"/>
            <a:ext cx="1071549" cy="10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>
            <p:ph idx="4294967295" type="subTitle"/>
          </p:nvPr>
        </p:nvSpPr>
        <p:spPr>
          <a:xfrm>
            <a:off x="446275" y="3685100"/>
            <a:ext cx="27342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9"/>
              <a:t>Proceso manual y desconectado</a:t>
            </a:r>
            <a:endParaRPr b="1" sz="1149"/>
          </a:p>
        </p:txBody>
      </p:sp>
      <p:sp>
        <p:nvSpPr>
          <p:cNvPr id="262" name="Google Shape;262;p28"/>
          <p:cNvSpPr txBox="1"/>
          <p:nvPr>
            <p:ph idx="4294967295" type="subTitle"/>
          </p:nvPr>
        </p:nvSpPr>
        <p:spPr>
          <a:xfrm>
            <a:off x="3118250" y="3692800"/>
            <a:ext cx="25887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9"/>
              <a:t>Falta de control</a:t>
            </a:r>
            <a:endParaRPr b="1" sz="1149"/>
          </a:p>
        </p:txBody>
      </p:sp>
      <p:sp>
        <p:nvSpPr>
          <p:cNvPr id="263" name="Google Shape;263;p28"/>
          <p:cNvSpPr txBox="1"/>
          <p:nvPr>
            <p:ph idx="4294967295" type="subTitle"/>
          </p:nvPr>
        </p:nvSpPr>
        <p:spPr>
          <a:xfrm>
            <a:off x="5709825" y="3685100"/>
            <a:ext cx="25887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9"/>
              <a:t>Ineficiencia operativa</a:t>
            </a:r>
            <a:endParaRPr b="1" sz="114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" name="Google Shape;268;p29"/>
          <p:cNvGraphicFramePr/>
          <p:nvPr/>
        </p:nvGraphicFramePr>
        <p:xfrm>
          <a:off x="1098350" y="1693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{218C0303-CA62-4CB5-ACC8-05E2A77B3ABE}</a:tableStyleId>
              </a:tblPr>
              <a:tblGrid>
                <a:gridCol w="1439350"/>
                <a:gridCol w="2272375"/>
                <a:gridCol w="3235550"/>
              </a:tblGrid>
              <a:tr h="55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Tipo de Costo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Rango Estimado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Descripción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Costo Operativo Directo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$400.000 - $800.000 CLP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Pérdida neta por mantenimiento, chofer inactivo, depreciación y seguros.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Riesgo Comercial (Ventas)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$2.500.000 - $10.000.000+ CLP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Valor de la mercadería no entregada (dependiendo de la ruta y temporada).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Costo Total Real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Variable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Suma de ambos si no se logra reemplazar la ruta ese mismo día.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29"/>
          <p:cNvSpPr/>
          <p:nvPr/>
        </p:nvSpPr>
        <p:spPr>
          <a:xfrm>
            <a:off x="2476885" y="1157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71" name="Google Shape;271;p29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72" name="Google Shape;272;p29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73" name="Google Shape;273;p29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74" name="Google Shape;274;p29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75" name="Google Shape;275;p29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76" name="Google Shape;276;p29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277" name="Google Shape;277;p29"/>
          <p:cNvSpPr txBox="1"/>
          <p:nvPr>
            <p:ph idx="4294967295" type="title"/>
          </p:nvPr>
        </p:nvSpPr>
        <p:spPr>
          <a:xfrm>
            <a:off x="514375" y="751682"/>
            <a:ext cx="3846300" cy="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</a:t>
            </a:r>
            <a:endParaRPr/>
          </a:p>
        </p:txBody>
      </p:sp>
      <p:sp>
        <p:nvSpPr>
          <p:cNvPr id="278" name="Google Shape;278;p29"/>
          <p:cNvSpPr/>
          <p:nvPr/>
        </p:nvSpPr>
        <p:spPr>
          <a:xfrm>
            <a:off x="0" y="1369257"/>
            <a:ext cx="47106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0" y="895875"/>
            <a:ext cx="6708600" cy="10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Propuesta de solución</a:t>
            </a:r>
            <a:endParaRPr sz="3200"/>
          </a:p>
        </p:txBody>
      </p:sp>
      <p:sp>
        <p:nvSpPr>
          <p:cNvPr id="284" name="Google Shape;284;p30"/>
          <p:cNvSpPr/>
          <p:nvPr/>
        </p:nvSpPr>
        <p:spPr>
          <a:xfrm>
            <a:off x="0" y="1565525"/>
            <a:ext cx="6794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0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0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"/>
          <p:cNvSpPr/>
          <p:nvPr/>
        </p:nvSpPr>
        <p:spPr>
          <a:xfrm>
            <a:off x="3535113" y="1157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91" name="Google Shape;291;p30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92" name="Google Shape;292;p30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93" name="Google Shape;293;p30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94" name="Google Shape;294;p30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95" name="Google Shape;295;p30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96" name="Google Shape;296;p30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297" name="Google Shape;29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6821" y="2279900"/>
            <a:ext cx="1337475" cy="13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4700" y="2397863"/>
            <a:ext cx="1180950" cy="118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0"/>
          <p:cNvSpPr txBox="1"/>
          <p:nvPr>
            <p:ph idx="4294967295" type="subTitle"/>
          </p:nvPr>
        </p:nvSpPr>
        <p:spPr>
          <a:xfrm>
            <a:off x="446275" y="3685100"/>
            <a:ext cx="25887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9"/>
              <a:t>Plataforma Digital Centralizada</a:t>
            </a:r>
            <a:endParaRPr b="1" sz="1149"/>
          </a:p>
        </p:txBody>
      </p:sp>
      <p:sp>
        <p:nvSpPr>
          <p:cNvPr id="300" name="Google Shape;300;p30"/>
          <p:cNvSpPr txBox="1"/>
          <p:nvPr>
            <p:ph idx="4294967295" type="subTitle"/>
          </p:nvPr>
        </p:nvSpPr>
        <p:spPr>
          <a:xfrm>
            <a:off x="3371200" y="3685100"/>
            <a:ext cx="25887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9"/>
              <a:t>Gestión Integral</a:t>
            </a:r>
            <a:endParaRPr b="1" sz="1149"/>
          </a:p>
        </p:txBody>
      </p:sp>
      <p:sp>
        <p:nvSpPr>
          <p:cNvPr id="301" name="Google Shape;301;p30"/>
          <p:cNvSpPr txBox="1"/>
          <p:nvPr>
            <p:ph idx="4294967295" type="subTitle"/>
          </p:nvPr>
        </p:nvSpPr>
        <p:spPr>
          <a:xfrm>
            <a:off x="6173950" y="3734588"/>
            <a:ext cx="25887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49"/>
              <a:t>Arquitectura escalable</a:t>
            </a:r>
            <a:endParaRPr b="1" sz="1149"/>
          </a:p>
        </p:txBody>
      </p:sp>
      <p:pic>
        <p:nvPicPr>
          <p:cNvPr id="302" name="Google Shape;302;p30" title="ruler_1177210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58561" y="2338900"/>
            <a:ext cx="1219478" cy="12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idx="1" type="subTitle"/>
          </p:nvPr>
        </p:nvSpPr>
        <p:spPr>
          <a:xfrm>
            <a:off x="1351640" y="2111302"/>
            <a:ext cx="12132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9"/>
              <a:t>Desarrollo </a:t>
            </a:r>
            <a:r>
              <a:rPr b="1" lang="en" sz="749"/>
              <a:t>Front-End</a:t>
            </a:r>
            <a:endParaRPr b="1" sz="749"/>
          </a:p>
        </p:txBody>
      </p:sp>
      <p:sp>
        <p:nvSpPr>
          <p:cNvPr id="308" name="Google Shape;308;p31"/>
          <p:cNvSpPr txBox="1"/>
          <p:nvPr>
            <p:ph idx="3" type="subTitle"/>
          </p:nvPr>
        </p:nvSpPr>
        <p:spPr>
          <a:xfrm>
            <a:off x="3052937" y="2111302"/>
            <a:ext cx="13944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9"/>
              <a:t>Desarrollo </a:t>
            </a:r>
            <a:r>
              <a:rPr b="1" lang="en" sz="749"/>
              <a:t>Backend</a:t>
            </a:r>
            <a:endParaRPr b="1" sz="749"/>
          </a:p>
        </p:txBody>
      </p:sp>
      <p:sp>
        <p:nvSpPr>
          <p:cNvPr id="309" name="Google Shape;309;p31"/>
          <p:cNvSpPr txBox="1"/>
          <p:nvPr>
            <p:ph idx="5" type="subTitle"/>
          </p:nvPr>
        </p:nvSpPr>
        <p:spPr>
          <a:xfrm>
            <a:off x="4760847" y="2111302"/>
            <a:ext cx="13944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9"/>
              <a:t>Manejo de versiones del proyecto</a:t>
            </a:r>
            <a:endParaRPr b="1" sz="749"/>
          </a:p>
        </p:txBody>
      </p:sp>
      <p:sp>
        <p:nvSpPr>
          <p:cNvPr id="310" name="Google Shape;310;p31"/>
          <p:cNvSpPr txBox="1"/>
          <p:nvPr>
            <p:ph idx="7" type="subTitle"/>
          </p:nvPr>
        </p:nvSpPr>
        <p:spPr>
          <a:xfrm>
            <a:off x="1292401" y="3292703"/>
            <a:ext cx="13245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9"/>
              <a:t>Gestión y planificación de tareas del proyecto.</a:t>
            </a:r>
            <a:endParaRPr b="1" sz="749"/>
          </a:p>
        </p:txBody>
      </p:sp>
      <p:sp>
        <p:nvSpPr>
          <p:cNvPr id="311" name="Google Shape;311;p31"/>
          <p:cNvSpPr txBox="1"/>
          <p:nvPr>
            <p:ph idx="9" type="subTitle"/>
          </p:nvPr>
        </p:nvSpPr>
        <p:spPr>
          <a:xfrm>
            <a:off x="3052937" y="3292459"/>
            <a:ext cx="14397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4"/>
              <a:buFont typeface="Arial"/>
              <a:buNone/>
            </a:pPr>
            <a:r>
              <a:rPr b="1" lang="en" sz="749"/>
              <a:t>Comunicación, reuniones y reporte de avances.</a:t>
            </a:r>
            <a:endParaRPr b="1" sz="749"/>
          </a:p>
        </p:txBody>
      </p:sp>
      <p:sp>
        <p:nvSpPr>
          <p:cNvPr id="312" name="Google Shape;312;p31"/>
          <p:cNvSpPr txBox="1"/>
          <p:nvPr>
            <p:ph idx="14" type="subTitle"/>
          </p:nvPr>
        </p:nvSpPr>
        <p:spPr>
          <a:xfrm>
            <a:off x="4760847" y="3292691"/>
            <a:ext cx="1394400" cy="309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9"/>
              <a:t>Motor de base de datos del proyecto.</a:t>
            </a:r>
            <a:endParaRPr b="1" sz="749"/>
          </a:p>
        </p:txBody>
      </p:sp>
      <p:sp>
        <p:nvSpPr>
          <p:cNvPr id="313" name="Google Shape;313;p31"/>
          <p:cNvSpPr txBox="1"/>
          <p:nvPr/>
        </p:nvSpPr>
        <p:spPr>
          <a:xfrm>
            <a:off x="548700" y="548700"/>
            <a:ext cx="804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Tecnologías utilizadas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4" name="Google Shape;3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855" y="1501525"/>
            <a:ext cx="1278474" cy="639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381" y="1567356"/>
            <a:ext cx="1531243" cy="56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2400" y="2816850"/>
            <a:ext cx="1213446" cy="475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3360" y="2713501"/>
            <a:ext cx="1213445" cy="68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54125" y="2713505"/>
            <a:ext cx="1324369" cy="567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05174" y="1662291"/>
            <a:ext cx="1098849" cy="36914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/>
          <p:nvPr/>
        </p:nvSpPr>
        <p:spPr>
          <a:xfrm>
            <a:off x="548700" y="988250"/>
            <a:ext cx="41619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1"/>
          <p:cNvSpPr txBox="1"/>
          <p:nvPr>
            <p:ph idx="5" type="subTitle"/>
          </p:nvPr>
        </p:nvSpPr>
        <p:spPr>
          <a:xfrm>
            <a:off x="6442550" y="2545564"/>
            <a:ext cx="1531200" cy="726900"/>
          </a:xfrm>
          <a:prstGeom prst="rect">
            <a:avLst/>
          </a:prstGeom>
        </p:spPr>
        <p:txBody>
          <a:bodyPr anchorCtr="0" anchor="t" bIns="68525" lIns="68525" spcFirstLastPara="1" rIns="68525" wrap="square" tIns="68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9"/>
              <a:t>Servicios Web de Amazon </a:t>
            </a:r>
            <a:r>
              <a:rPr b="1" lang="en" sz="749"/>
              <a:t>Tecnología</a:t>
            </a:r>
            <a:r>
              <a:rPr b="1" lang="en" sz="749"/>
              <a:t> CloudFront, EC2 + Balanceador de Carga, Base de Datos Privada (RDS) + Nube (S3)</a:t>
            </a:r>
            <a:endParaRPr b="1" sz="749"/>
          </a:p>
        </p:txBody>
      </p:sp>
      <p:pic>
        <p:nvPicPr>
          <p:cNvPr id="322" name="Google Shape;322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99043" y="2049625"/>
            <a:ext cx="618213" cy="41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/>
          <p:nvPr/>
        </p:nvSpPr>
        <p:spPr>
          <a:xfrm>
            <a:off x="4565464" y="1173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1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325" name="Google Shape;325;p31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326" name="Google Shape;326;p31">
            <a:hlinkClick action="ppaction://hlinksldjump" r:id="rId10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327" name="Google Shape;327;p31">
            <a:hlinkClick action="ppaction://hlinksldjump" r:id="rId11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328" name="Google Shape;328;p31">
            <a:hlinkClick action="ppaction://hlinksldjump" r:id="rId12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329" name="Google Shape;329;p31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330" name="Google Shape;330;p31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/>
          <p:cNvSpPr txBox="1"/>
          <p:nvPr>
            <p:ph type="title"/>
          </p:nvPr>
        </p:nvSpPr>
        <p:spPr>
          <a:xfrm>
            <a:off x="548700" y="594024"/>
            <a:ext cx="8046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Demostración sistema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32" title="pagina ve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700" y="1513430"/>
            <a:ext cx="2972600" cy="29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2" title="b-lwNXQr_400x400.png"/>
          <p:cNvPicPr preferRelativeResize="0"/>
          <p:nvPr/>
        </p:nvPicPr>
        <p:blipFill rotWithShape="1">
          <a:blip r:embed="rId4">
            <a:alphaModFix/>
          </a:blip>
          <a:srcRect b="18877" l="14038" r="16564" t="14862"/>
          <a:stretch/>
        </p:blipFill>
        <p:spPr>
          <a:xfrm>
            <a:off x="1089125" y="2420973"/>
            <a:ext cx="1625975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2"/>
          <p:cNvSpPr/>
          <p:nvPr/>
        </p:nvSpPr>
        <p:spPr>
          <a:xfrm>
            <a:off x="5616072" y="1173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2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340" name="Google Shape;340;p32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341" name="Google Shape;341;p32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342" name="Google Shape;342;p32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343" name="Google Shape;343;p32">
            <a:hlinkClick action="ppaction://hlinksldjump" r:id="rId7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344" name="Google Shape;344;p32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345" name="Google Shape;345;p32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346" name="Google Shape;346;p32" title="truck_19834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427962">
            <a:off x="6499145" y="2296794"/>
            <a:ext cx="1546336" cy="1546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3" title="qrcode_d11d5li552qwyj.cloudfront.n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075" y="1262300"/>
            <a:ext cx="2698425" cy="2698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2" name="Google Shape;352;p33"/>
          <p:cNvSpPr txBox="1"/>
          <p:nvPr/>
        </p:nvSpPr>
        <p:spPr>
          <a:xfrm>
            <a:off x="4809330" y="3003425"/>
            <a:ext cx="23976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Usuario: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  <a:b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Contraseña</a:t>
            </a: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123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3" name="Google Shape;353;p33" title="driving_159792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7975" y="1580500"/>
            <a:ext cx="1080300" cy="10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3"/>
          <p:cNvSpPr/>
          <p:nvPr/>
        </p:nvSpPr>
        <p:spPr>
          <a:xfrm>
            <a:off x="6648582" y="1173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3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356" name="Google Shape;356;p33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357" name="Google Shape;357;p33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358" name="Google Shape;358;p33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359" name="Google Shape;359;p33">
            <a:hlinkClick action="ppaction://hlinksldjump" r:id="rId7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360" name="Google Shape;360;p33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361" name="Google Shape;361;p33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type="title"/>
          </p:nvPr>
        </p:nvSpPr>
        <p:spPr>
          <a:xfrm>
            <a:off x="548700" y="594024"/>
            <a:ext cx="8046600" cy="8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Conclusión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198" y="1775725"/>
            <a:ext cx="2831600" cy="28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/>
          <p:nvPr/>
        </p:nvSpPr>
        <p:spPr>
          <a:xfrm>
            <a:off x="7699189" y="1173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4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370" name="Google Shape;370;p34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371" name="Google Shape;371;p34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372" name="Google Shape;372;p34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373" name="Google Shape;373;p34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374" name="Google Shape;374;p34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375" name="Google Shape;375;p34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ople &amp; Diversity Website Design by Slidesgo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FFCE1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